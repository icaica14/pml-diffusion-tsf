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notesMaster" Target="notesMasters/notesMaster1.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Buongiorno. Studiamo il forecasting probabilistico: non vogliamo una sola previsione, ma una distribuzione del futuro. Confrontiamo cinque modelli su una scala di complessità crescente, dal baseline stagionale ai modelli di diffusione. La domanda non è “chi vince”, ma se la diffusione </a:t>
            </a:r>
            <a:r>
              <a:rPr i="1"/>
              <a:t>giustifica</a:t>
            </a:r>
            <a:r>
              <a:rPr/>
              <a:t> il suo costo con un’incertezza migliore. (A, ~30s)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Forecasting probabilistico significa stimare la distribuzione del futuro condizionata al passato. La media da sola non basta: per gestire una rete elettrica mi serve sapere </a:t>
            </a:r>
            <a:r>
              <a:rPr i="1"/>
              <a:t>quanto</a:t>
            </a:r>
            <a:r>
              <a:rPr/>
              <a:t> posso sbagliare. Per questo valuteremo non solo l’errore puntuale, ma anche quanto sono calibrate le bande: se dico novanta percento, dentro la banda deve cadere circa il novanta percento dei casi. (A, ~45s)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Lavoriamo su Electricity: 321 contatori orari, con stagionalità giornaliera e settimanale molto marcata. Usiamo una settimana di storia per prevedere il giorno dopo, su uno split test tenuto da parte, con cento campioni per ricostruire la distribuzione. Un punto di onestà: usiamo il nostro split, non quello del benchmark pubblicato, quindi confrontiamo i modelli </a:t>
            </a:r>
            <a:r>
              <a:rPr i="1"/>
              <a:t>tra loro</a:t>
            </a:r>
            <a:r>
              <a:rPr/>
              <a:t>, non con la letteratura. (A, ~45s)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Due dataset con ruoli diversi. Exchange, i tassi di cambio, è quasi una passeggiata aleatoria: lì la miglior previsione di domani è oggi, e nessun modello sofisticato batte questa regola — controllo negativo per validare la pipeline. Electricity è il test vero, con stagionalità forte. La morale: il vincitore dipende dal tipo di segnale. (A → B, ~45s)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Una scala di cinque modelli. M0, il seasonal-naive: nessun addestramento, ma su segnali stagionali sorprendentemente forte. M1, ARIMA, un modello per ciascuna delle 321 serie. M2, DeepAR, rete ricorrente probabilistica su tutte le serie insieme. M3, TimeGrad, primo modello di diffusione, autoregressivo: genera il futuro un passo alla volta. M4, TimeDiff, secondo, design opposto: non autoregressivo, ripulisce l’intero blocco futuro in una catena — molto più veloce. M4 dà il forecast puntuale più nitido al costo più basso, ma paga con un’incertezza degenere: il </a:t>
            </a:r>
            <a:r>
              <a:rPr i="1"/>
              <a:t>design</a:t>
            </a:r>
            <a:r>
              <a:rPr/>
              <a:t>, non solo la taglia, cambia il compromesso. (B, ~70s)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TimeGrad è un modello di diffusione. Prendo il dato vero, aggiungo rumore gradualmente finché non resta che rumore. Poi addestro una rete a fare il percorso inverso, a togliere rumore un passo alla volta. Per generare parto da puro rumore e ripulisco fino a un campione realistico. Per il forecasting condiziono sul passato — riassunto da una RNN — e ripeto cento volte: cento futuri possibili, cioè la distribuzione. Il prezzo: ogni campione richiede tanti passi, il sampling è lento, ed è il costo che quantificheremo. (B, ~60s)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Tre lenti per leggere i numeri. Primo, l’accuratezza puntuale con MASE, normalizzato perché uno equivalga al seasonal-naive — sotto uno significa “meglio del baseline”. Secondo, la qualità probabilistica: il CRPS, che premia una distribuzione intera ben piazzata, non solo la media. Terzo, la calibrazione: se le bande al cinquanta e novanta percento coprono davvero quella frazione. E sopra tutto, il costo. (B, ~45s)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numeri su Electricity. Il seasonal-naive ha CRPS 160 e MASE uno — la barra da battere. ARIMA, un modello per canale su 321 serie, è fragile e va malissimo. DeepAR è 253, batte ARIMA ma non il baseline. TimeGrad scende a 241 — il più vicino al baseline, ma non lo supera, a un costo di sampling enorme. TimeDiff: come previsione puntuale è il migliore dei deep e costa pochissimo, ma la sua incertezza è collassata, le bande coprono lo zero per cento. Un segnale da manuale, in dettaglio nei backup. (C, ~70s)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stessa storia della tabella, ma in figura, più leggibile dal fondo dell’aula: il CRPS per modello. Il seasonal-naive fissa la barra; TimeGrad è il più vicino ma resta sopra; TimeDiff è il più alto perché la distribuzione è degenere. (C, ~15s)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Il grafico che riassume la tesi. Orizzontale il costo di campionamento, verticale la qualità probabilistica: l’ideale è l’angolo in basso a sinistra. Il seasonal-naive sta proprio lì. DeepAR costa di più e rende meno del baseline. TimeGrad è costoso — oltre quattro ore — e arriva solo a 241. TimeDiff ribalta l’asse del costo: il più economico dei deep grazie al design non-autoregressivo, ma il CRPS più alto, perché l’incertezza è collassata. La velocità da sola non basta se quello che guadagni in costo lo perdi in calibrazione. (C, ~70s)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sintesi: il messaggio non è che la diffusione vince, ma che esiste un compromesso tra espressività, calibrazione e costo — e che su un segnale fortemente stagionale un baseline semplice è un avversario serio. TimeGrad batte DeepAR sul CRPS ma non il seasonal-naive: valore metodologico. Abbiamo confrontato due diffusion model con design opposto: TimeDiff, non-autoregressivo, ribalta il costo — sei volte più rapido — ma in questa parametrizzazione rompe la calibrazione. La nostra ablazione mostra che nessuno dei due estremi è calibrato: x0 azzera l’incertezza, ε la gonfia. Onesti sui limiti: split non-benchmark, ARIMA poco competitivo, sampling costoso, un solo seed. Grazie. (C, ~55s)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Backup per il Q&amp;A sulla calibrazione: la copertura empirica contro quella nominale. Sotto la diagonale è sovra-confidenza, sopra è sotto-confidenza. Si vedono i due estremi di TimeDiff — x0 sul pavimento, ε sul soffitto — e DeepAR come il più vicino alla diagonale. (C)</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Sharpness: l’ampiezza delle bande, da leggere sempre accanto alla copertura. Una banda strettissima che non copre nulla è una falsa sicurezza, non un pregio — è esattamente il caso di M4 in x0. (C)</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slide-storia del nostro risultato. Diagnosi indipendente: il rapporto RMSE/MAE resta uniforme (ε 8.97 ≈ x0 8.85 ≈ naive 8.67), quindi è sovra-dispersione uniforme, non finestre esplose — effetto reale, non bug del sampler. Meccanismo: senza ancoraggio autoregressivo il blocco non-AR sparge la varianza iniettata da ε su tutte le celle senza ricomporla. Usare per: “perché TimeDiff ha coverage zero?”, “l’ablazione ε ha funzionato?”, “differenza tra i due diffusion model?”.</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Backup testuali, da richiamare solo su domanda specifica. Numeri sempre dalla registry, mai a mano.</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 Id="rId3" Type="http://schemas.openxmlformats.org/officeDocument/2006/relationships/image" Target="../media/image1.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 Id="rId3" Type="http://schemas.openxmlformats.org/officeDocument/2006/relationships/image" Target="../media/image2.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2.xml" /><Relationship Id="rId3" Type="http://schemas.openxmlformats.org/officeDocument/2006/relationships/image" Target="../media/image3.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3.xml" /><Relationship Id="rId3" Type="http://schemas.openxmlformats.org/officeDocument/2006/relationships/image" Target="../media/image4.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4.xml" /><Relationship Id="rId3"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Forecasting probabilistico con modelli di diffusione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Un confronto controllato su consumi elettrici · M0 → M4</a:t>
            </a:r>
            <a:br/>
            <a:br/>
            <a:r>
              <a:rPr/>
              <a:t>Relatore A · Relatore B · Relatore C — PML, Prof. Bortolussi, UniTS</a:t>
            </a:r>
          </a:p>
        </p:txBody>
      </p:sp>
      <p:sp>
        <p:nvSpPr>
          <p:cNvPr id="4" name="Date Placeholder 3"/>
          <p:cNvSpPr>
            <a:spLocks noGrp="1"/>
          </p:cNvSpPr>
          <p:nvPr>
            <p:ph idx="10" sz="half" type="dt"/>
          </p:nvPr>
        </p:nvSpPr>
        <p:spPr/>
        <p:txBody>
          <a:bodyPr/>
          <a:lstStyle/>
          <a:p>
            <a:pPr lvl="0" indent="0" marL="0">
              <a:buNone/>
            </a:pPr>
            <a:r>
              <a:rPr/>
              <a:t>Giugno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domanda</a:t>
            </a:r>
          </a:p>
        </p:txBody>
      </p:sp>
      <p:sp>
        <p:nvSpPr>
          <p:cNvPr id="3" name="Content Placeholder 2"/>
          <p:cNvSpPr>
            <a:spLocks noGrp="1"/>
          </p:cNvSpPr>
          <p:nvPr>
            <p:ph idx="1"/>
          </p:nvPr>
        </p:nvSpPr>
        <p:spPr/>
        <p:txBody>
          <a:bodyPr/>
          <a:lstStyle/>
          <a:p>
            <a:pPr lvl="0"/>
            <a:r>
              <a:rPr b="1"/>
              <a:t>Forecasting probabilistico:</a:t>
            </a:r>
            <a:r>
              <a:rPr/>
              <a:t> prevediamo una </a:t>
            </a:r>
            <a:r>
              <a:rPr i="1"/>
              <a:t>distribuzione</a:t>
            </a:r>
            <a:r>
              <a:rPr/>
              <a:t> del futuro, non un singolo numero.</a:t>
            </a:r>
          </a:p>
          <a:p>
            <a:pPr lvl="0"/>
            <a:r>
              <a:rPr/>
              <a:t>Una scala di 5 modelli a complessità crescente: </a:t>
            </a:r>
            <a:r>
              <a:rPr b="1"/>
              <a:t>M0</a:t>
            </a:r>
            <a:r>
              <a:rPr/>
              <a:t> seasonal-naive → </a:t>
            </a:r>
            <a:r>
              <a:rPr b="1"/>
              <a:t>M1</a:t>
            </a:r>
            <a:r>
              <a:rPr/>
              <a:t> ARIMA → </a:t>
            </a:r>
            <a:r>
              <a:rPr b="1"/>
              <a:t>M2</a:t>
            </a:r>
            <a:r>
              <a:rPr/>
              <a:t> DeepAR → </a:t>
            </a:r>
            <a:r>
              <a:rPr b="1"/>
              <a:t>M3</a:t>
            </a:r>
            <a:r>
              <a:rPr/>
              <a:t> TimeGrad → </a:t>
            </a:r>
            <a:r>
              <a:rPr b="1"/>
              <a:t>M4</a:t>
            </a:r>
            <a:r>
              <a:rPr/>
              <a:t> TimeDiff.</a:t>
            </a:r>
          </a:p>
          <a:p>
            <a:pPr lvl="0"/>
            <a:r>
              <a:rPr b="1"/>
              <a:t>Domanda guida:</a:t>
            </a:r>
            <a:r>
              <a:rPr/>
              <a:t> un modello di diffusione produce </a:t>
            </a:r>
            <a:r>
              <a:rPr i="1"/>
              <a:t>incertezza migliore</a:t>
            </a:r>
            <a:r>
              <a:rPr/>
              <a:t> — e a che costo?</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Perché forecasting </a:t>
            </a:r>
            <a:r>
              <a:rPr i="1"/>
              <a:t>probabilistico</a:t>
            </a:r>
          </a:p>
        </p:txBody>
      </p:sp>
      <p:sp>
        <p:nvSpPr>
          <p:cNvPr id="3" name="Content Placeholder 2"/>
          <p:cNvSpPr>
            <a:spLocks noGrp="1"/>
          </p:cNvSpPr>
          <p:nvPr>
            <p:ph idx="1"/>
          </p:nvPr>
        </p:nvSpPr>
        <p:spPr/>
        <p:txBody>
          <a:bodyPr/>
          <a:lstStyle/>
          <a:p>
            <a:pPr lvl="0"/>
            <a:r>
              <a:rPr/>
              <a:t>Prevediamo </a:t>
            </a:r>
            <a:r>
              <a:rPr>
                <a:latin typeface="Courier"/>
              </a:rPr>
              <a:t>p(futuro | passato)</a:t>
            </a:r>
            <a:r>
              <a:rPr/>
              <a:t> = </a:t>
            </a:r>
            <a:r>
              <a:rPr>
                <a:latin typeface="Courier"/>
              </a:rPr>
              <a:t>p(x_{t+1:t+τ} | x_{t-H+1:t})</a:t>
            </a:r>
            <a:r>
              <a:rPr/>
              <a:t>.</a:t>
            </a:r>
          </a:p>
          <a:p>
            <a:pPr lvl="0"/>
            <a:r>
              <a:rPr/>
              <a:t>Una previsione </a:t>
            </a:r>
            <a:r>
              <a:rPr i="1"/>
              <a:t>puntuale</a:t>
            </a:r>
            <a:r>
              <a:rPr/>
              <a:t> nasconde il rischio; una </a:t>
            </a:r>
            <a:r>
              <a:rPr i="1"/>
              <a:t>distribuzione</a:t>
            </a:r>
            <a:r>
              <a:rPr/>
              <a:t> lo quantifica.</a:t>
            </a:r>
          </a:p>
          <a:p>
            <a:pPr lvl="0"/>
            <a:r>
              <a:rPr/>
              <a:t>Servono </a:t>
            </a:r>
            <a:r>
              <a:rPr b="1"/>
              <a:t>intervalli calibrati</a:t>
            </a:r>
            <a:r>
              <a:rPr/>
              <a:t>: se dico “90%”, devono coprire davvero ~90%.</a:t>
            </a:r>
          </a:p>
          <a:p>
            <a:pPr lvl="0"/>
            <a:r>
              <a:rPr/>
              <a:t>Le decisioni sotto incertezza (riserva di rete, sbilanciamento, prezzo) usano i </a:t>
            </a:r>
            <a:r>
              <a:rPr i="1"/>
              <a:t>quantili</a:t>
            </a:r>
            <a:r>
              <a:rPr/>
              <a:t>, non solo la media.</a:t>
            </a:r>
          </a:p>
          <a:p>
            <a:pPr lvl="0"/>
            <a:r>
              <a:rPr>
                <a:latin typeface="Courier"/>
              </a:rPr>
              <a:t>H</a:t>
            </a:r>
            <a:r>
              <a:rPr/>
              <a:t> = contesto (passato osservato) · </a:t>
            </a:r>
            <a:r>
              <a:rPr>
                <a:latin typeface="Courier"/>
              </a:rPr>
              <a:t>τ</a:t>
            </a:r>
            <a:r>
              <a:rPr/>
              <a:t> = orizzonte (futuro previsto).</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Dataset e protocollo</a:t>
            </a:r>
          </a:p>
        </p:txBody>
      </p:sp>
      <p:sp>
        <p:nvSpPr>
          <p:cNvPr id="3" name="Content Placeholder 2"/>
          <p:cNvSpPr>
            <a:spLocks noGrp="1"/>
          </p:cNvSpPr>
          <p:nvPr>
            <p:ph idx="1"/>
          </p:nvPr>
        </p:nvSpPr>
        <p:spPr/>
        <p:txBody>
          <a:bodyPr/>
          <a:lstStyle/>
          <a:p>
            <a:pPr lvl="0"/>
            <a:r>
              <a:rPr b="1"/>
              <a:t>Electricity</a:t>
            </a:r>
            <a:r>
              <a:rPr/>
              <a:t>: D = 321 serie orarie di consumo, forte stagionalità giornaliera e settimanale.</a:t>
            </a:r>
          </a:p>
          <a:p>
            <a:pPr lvl="0"/>
            <a:r>
              <a:rPr/>
              <a:t>Split </a:t>
            </a:r>
            <a:r>
              <a:rPr b="1"/>
              <a:t>70/10/20</a:t>
            </a:r>
            <a:r>
              <a:rPr/>
              <a:t> (train/val/</a:t>
            </a:r>
            <a:r>
              <a:rPr b="1"/>
              <a:t>test</a:t>
            </a:r>
            <a:r>
              <a:rPr/>
              <a:t>) · contesto </a:t>
            </a:r>
            <a:r>
              <a:rPr b="1"/>
              <a:t>H = 168</a:t>
            </a:r>
            <a:r>
              <a:rPr/>
              <a:t> ore (1 settimana) · orizzonte </a:t>
            </a:r>
            <a:r>
              <a:rPr b="1"/>
              <a:t>τ = 24</a:t>
            </a:r>
            <a:r>
              <a:rPr/>
              <a:t> ore.</a:t>
            </a:r>
          </a:p>
          <a:p>
            <a:pPr lvl="0"/>
            <a:r>
              <a:rPr b="1"/>
              <a:t>S = 100</a:t>
            </a:r>
            <a:r>
              <a:rPr/>
              <a:t> campioni per la distribuzione predittiva · </a:t>
            </a:r>
            <a:r>
              <a:rPr b="1"/>
              <a:t>seed = 42</a:t>
            </a:r>
            <a:r>
              <a:rPr/>
              <a:t>.</a:t>
            </a:r>
          </a:p>
          <a:p>
            <a:pPr lvl="0"/>
            <a:r>
              <a:rPr b="1"/>
              <a:t>Caveat di onestà (E0):</a:t>
            </a:r>
            <a:r>
              <a:rPr/>
              <a:t> file grezzo LSTNet col </a:t>
            </a:r>
            <a:r>
              <a:rPr i="1"/>
              <a:t>nostro</a:t>
            </a:r>
            <a:r>
              <a:rPr/>
              <a:t> split, </a:t>
            </a:r>
            <a:r>
              <a:rPr b="1"/>
              <a:t>non</a:t>
            </a:r>
            <a:r>
              <a:rPr/>
              <a:t> </a:t>
            </a:r>
            <a:r>
              <a:rPr>
                <a:latin typeface="Courier"/>
              </a:rPr>
              <a:t>electricity_nips</a:t>
            </a:r>
            <a:r>
              <a:rPr/>
              <a:t> → i nostri CRPS </a:t>
            </a:r>
            <a:r>
              <a:rPr b="1"/>
              <a:t>non</a:t>
            </a:r>
            <a:r>
              <a:rPr/>
              <a:t> sono direttamente confrontabili coi numeri pubblicati. È un confronto </a:t>
            </a:r>
            <a:r>
              <a:rPr i="1"/>
              <a:t>interno</a:t>
            </a:r>
            <a:r>
              <a:rPr/>
              <a:t>, controllato.</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 Exchange a Electricity — perché due dataset</a:t>
            </a:r>
          </a:p>
        </p:txBody>
      </p:sp>
      <p:sp>
        <p:nvSpPr>
          <p:cNvPr id="3" name="Content Placeholder 2"/>
          <p:cNvSpPr>
            <a:spLocks noGrp="1"/>
          </p:cNvSpPr>
          <p:nvPr>
            <p:ph idx="1"/>
          </p:nvPr>
        </p:nvSpPr>
        <p:spPr/>
        <p:txBody>
          <a:bodyPr/>
          <a:lstStyle/>
          <a:p>
            <a:pPr lvl="0"/>
            <a:r>
              <a:rPr b="1"/>
              <a:t>Exchange</a:t>
            </a:r>
            <a:r>
              <a:rPr/>
              <a:t> (D = 8, giornaliero, quasi </a:t>
            </a:r>
            <a:r>
              <a:rPr i="1"/>
              <a:t>random walk</a:t>
            </a:r>
            <a:r>
              <a:rPr/>
              <a:t>): sandbox per validare la pipeline. Qui i modelli deep </a:t>
            </a:r>
            <a:r>
              <a:rPr b="1"/>
              <a:t>non</a:t>
            </a:r>
            <a:r>
              <a:rPr/>
              <a:t> battono la persistenza — ed è </a:t>
            </a:r>
            <a:r>
              <a:rPr i="1"/>
              <a:t>atteso</a:t>
            </a:r>
            <a:r>
              <a:rPr/>
              <a:t>: </a:t>
            </a:r>
            <a:r>
              <a:rPr b="1"/>
              <a:t>controllo negativo</a:t>
            </a:r>
            <a:r>
              <a:rPr/>
              <a:t>.</a:t>
            </a:r>
          </a:p>
          <a:p>
            <a:pPr lvl="0"/>
            <a:r>
              <a:rPr b="1"/>
              <a:t>Electricity</a:t>
            </a:r>
            <a:r>
              <a:rPr/>
              <a:t> (D = 321, orario, stagionale): il test rilevante, struttura ricca, rilevanza industriale.</a:t>
            </a:r>
          </a:p>
          <a:p>
            <a:pPr lvl="0"/>
            <a:r>
              <a:rPr/>
              <a:t>Messaggio: </a:t>
            </a:r>
            <a:r>
              <a:rPr i="1"/>
              <a:t>cambia il regime del segnale, cambia chi vince.</a:t>
            </a:r>
          </a:p>
          <a:p>
            <a:pPr lvl="0"/>
            <a:r>
              <a:rPr/>
              <a:t>⚠️ MASE e CRPS </a:t>
            </a:r>
            <a:r>
              <a:rPr b="1"/>
              <a:t>non</a:t>
            </a:r>
            <a:r>
              <a:rPr/>
              <a:t> sono confrontabili tra i due dataset (scale e denominatori diversi).</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scala dei modelli: M0 → M4</a:t>
            </a:r>
          </a:p>
        </p:txBody>
      </p:sp>
      <p:sp>
        <p:nvSpPr>
          <p:cNvPr id="3" name="Content Placeholder 2"/>
          <p:cNvSpPr>
            <a:spLocks noGrp="1"/>
          </p:cNvSpPr>
          <p:nvPr>
            <p:ph idx="1"/>
          </p:nvPr>
        </p:nvSpPr>
        <p:spPr/>
        <p:txBody>
          <a:bodyPr/>
          <a:lstStyle/>
          <a:p>
            <a:pPr lvl="0"/>
            <a:r>
              <a:rPr b="1"/>
              <a:t>M0 — seasonal-naive:</a:t>
            </a:r>
            <a:r>
              <a:rPr/>
              <a:t> “domani come il ciclo precedente”. Zero training, fortissimo sulle serie stagionali.</a:t>
            </a:r>
          </a:p>
          <a:p>
            <a:pPr lvl="0"/>
            <a:r>
              <a:rPr b="1"/>
              <a:t>M1 — ARIMA:</a:t>
            </a:r>
            <a:r>
              <a:rPr/>
              <a:t> lineare classico, un modello </a:t>
            </a:r>
            <a:r>
              <a:rPr i="1"/>
              <a:t>per canale</a:t>
            </a:r>
            <a:r>
              <a:rPr/>
              <a:t> (321 modelli).</a:t>
            </a:r>
          </a:p>
          <a:p>
            <a:pPr lvl="0"/>
            <a:r>
              <a:rPr b="1"/>
              <a:t>M2 — DeepAR:</a:t>
            </a:r>
            <a:r>
              <a:rPr/>
              <a:t> RNN autoregressiva probabilistica, addestrata su tutte le serie insieme.</a:t>
            </a:r>
          </a:p>
          <a:p>
            <a:pPr lvl="0"/>
            <a:r>
              <a:rPr b="1"/>
              <a:t>M3 — TimeGrad:</a:t>
            </a:r>
            <a:r>
              <a:rPr/>
              <a:t> diffusione </a:t>
            </a:r>
            <a:r>
              <a:rPr b="1"/>
              <a:t>autoregressiva</a:t>
            </a:r>
            <a:r>
              <a:rPr/>
              <a:t> condizionata — genera il futuro un passo alla volta.</a:t>
            </a:r>
          </a:p>
          <a:p>
            <a:pPr lvl="0"/>
            <a:r>
              <a:rPr b="1"/>
              <a:t>M4 — TimeDiff:</a:t>
            </a:r>
            <a:r>
              <a:rPr/>
              <a:t> diffusione </a:t>
            </a:r>
            <a:r>
              <a:rPr b="1"/>
              <a:t>non-autoregressiva</a:t>
            </a:r>
            <a:r>
              <a:rPr/>
              <a:t> — denoisa l’</a:t>
            </a:r>
            <a:r>
              <a:rPr b="1"/>
              <a:t>intero blocco</a:t>
            </a:r>
            <a:r>
              <a:rPr/>
              <a:t> futuro in una catena → sampling </a:t>
            </a:r>
            <a:r>
              <a:rPr i="1"/>
              <a:t>molto</a:t>
            </a:r>
            <a:r>
              <a:rPr/>
              <a:t> più rapido. Point forecast nitido, </a:t>
            </a:r>
            <a:r>
              <a:rPr i="1"/>
              <a:t>ma</a:t>
            </a:r>
            <a:r>
              <a:rPr/>
              <a:t> incertezza collassata.</a:t>
            </a:r>
          </a:p>
          <a:p>
            <a:pPr lvl="0"/>
            <a:r>
              <a:rPr/>
              <a:t>Asse: più espressività → (forse) incertezza migliore → più costo. </a:t>
            </a:r>
            <a:r>
              <a:rPr b="1"/>
              <a:t>E M4 mostra che il </a:t>
            </a:r>
            <a:r>
              <a:rPr b="1" i="1"/>
              <a:t>design</a:t>
            </a:r>
            <a:r>
              <a:rPr b="1"/>
              <a:t> (AR vs non-AR) sposta il costo, non solo la scala.</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TimeGrad, in modo intuitivo</a:t>
            </a:r>
          </a:p>
        </p:txBody>
      </p:sp>
      <p:sp>
        <p:nvSpPr>
          <p:cNvPr id="3" name="Content Placeholder 2"/>
          <p:cNvSpPr>
            <a:spLocks noGrp="1"/>
          </p:cNvSpPr>
          <p:nvPr>
            <p:ph idx="1"/>
          </p:nvPr>
        </p:nvSpPr>
        <p:spPr/>
        <p:txBody>
          <a:bodyPr/>
          <a:lstStyle/>
          <a:p>
            <a:pPr lvl="0"/>
            <a:r>
              <a:rPr b="1"/>
              <a:t>Forward:</a:t>
            </a:r>
            <a:r>
              <a:rPr/>
              <a:t> parto dal dato vero e aggiungo rumore gaussiano, un po’ alla volta, finché diventa rumore puro.</a:t>
            </a:r>
          </a:p>
          <a:p>
            <a:pPr lvl="0"/>
            <a:r>
              <a:rPr b="1"/>
              <a:t>Reverse:</a:t>
            </a:r>
            <a:r>
              <a:rPr/>
              <a:t> addestro una rete a </a:t>
            </a:r>
            <a:r>
              <a:rPr b="1"/>
              <a:t>invertire</a:t>
            </a:r>
            <a:r>
              <a:rPr/>
              <a:t> quei passi; a generazione, parto da rumore e lo ripulisco.</a:t>
            </a:r>
          </a:p>
          <a:p>
            <a:pPr lvl="0"/>
            <a:r>
              <a:rPr b="1"/>
              <a:t>Per il forecasting:</a:t>
            </a:r>
            <a:r>
              <a:rPr/>
              <a:t> la ripulitura è </a:t>
            </a:r>
            <a:r>
              <a:rPr b="1"/>
              <a:t>condizionata sul passato</a:t>
            </a:r>
            <a:r>
              <a:rPr/>
              <a:t> (stato di un RNN che riassume H ore); ripeto il sampling S volte → S traiettorie future = la distribuzione predittiva.</a:t>
            </a:r>
          </a:p>
          <a:p>
            <a:pPr lvl="0"/>
            <a:r>
              <a:rPr b="1"/>
              <a:t>Il prezzo:</a:t>
            </a:r>
            <a:r>
              <a:rPr/>
              <a:t> ogni campione richiede molti passi di denoising → sampling lento (</a:t>
            </a:r>
            <a:r>
              <a:rPr>
                <a:latin typeface="Courier"/>
              </a:rPr>
              <a:t>diff_steps = 100</a:t>
            </a:r>
            <a:r>
              <a:rPr/>
              <a:t>, predict ≈ 4h 19min su L4).</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Come misuriamo</a:t>
            </a:r>
          </a:p>
        </p:txBody>
      </p:sp>
      <p:sp>
        <p:nvSpPr>
          <p:cNvPr id="3" name="Content Placeholder 2"/>
          <p:cNvSpPr>
            <a:spLocks noGrp="1"/>
          </p:cNvSpPr>
          <p:nvPr>
            <p:ph idx="1"/>
          </p:nvPr>
        </p:nvSpPr>
        <p:spPr/>
        <p:txBody>
          <a:bodyPr/>
          <a:lstStyle/>
          <a:p>
            <a:pPr lvl="0"/>
            <a:r>
              <a:rPr b="1"/>
              <a:t>Accuratezza puntuale:</a:t>
            </a:r>
            <a:r>
              <a:rPr/>
              <a:t> MAE, RMSE, </a:t>
            </a:r>
            <a:r>
              <a:rPr b="1"/>
              <a:t>MASE</a:t>
            </a:r>
            <a:r>
              <a:rPr/>
              <a:t> (1 = come il seasonal-naive; &lt; 1 = meglio del baseline).</a:t>
            </a:r>
          </a:p>
          <a:p>
            <a:pPr lvl="0"/>
            <a:r>
              <a:rPr b="1"/>
              <a:t>Qualità probabilistica:</a:t>
            </a:r>
            <a:r>
              <a:rPr/>
              <a:t> </a:t>
            </a:r>
            <a:r>
              <a:rPr b="1"/>
              <a:t>CRPS</a:t>
            </a:r>
            <a:r>
              <a:rPr/>
              <a:t> e pinball loss — premiano una distribuzione </a:t>
            </a:r>
            <a:r>
              <a:rPr i="1"/>
              <a:t>intera</a:t>
            </a:r>
            <a:r>
              <a:rPr/>
              <a:t> ben piazzata. Più basso = meglio.</a:t>
            </a:r>
          </a:p>
          <a:p>
            <a:pPr lvl="0"/>
            <a:r>
              <a:rPr b="1"/>
              <a:t>Calibrazione:</a:t>
            </a:r>
            <a:r>
              <a:rPr/>
              <a:t> </a:t>
            </a:r>
            <a:r>
              <a:rPr b="1"/>
              <a:t>cov50 → 0.50</a:t>
            </a:r>
            <a:r>
              <a:rPr/>
              <a:t> e </a:t>
            </a:r>
            <a:r>
              <a:rPr b="1"/>
              <a:t>cov90 → 0.90</a:t>
            </a:r>
            <a:r>
              <a:rPr/>
              <a:t> (le bande coprono quel che promettono?); width = sharpness.</a:t>
            </a:r>
          </a:p>
          <a:p>
            <a:pPr lvl="0"/>
            <a:r>
              <a:rPr b="1"/>
              <a:t>Costo:</a:t>
            </a:r>
            <a:r>
              <a:rPr/>
              <a:t> </a:t>
            </a:r>
            <a:r>
              <a:rPr>
                <a:latin typeface="Courier"/>
              </a:rPr>
              <a:t>fit_s</a:t>
            </a:r>
            <a:r>
              <a:rPr/>
              <a:t> (training) e </a:t>
            </a:r>
            <a:r>
              <a:rPr>
                <a:latin typeface="Courier"/>
              </a:rPr>
              <a:t>predict_s</a:t>
            </a:r>
            <a:r>
              <a:rPr/>
              <a:t> (sampling).</a:t>
            </a:r>
          </a:p>
          <a:p>
            <a:pPr lvl="0"/>
            <a:r>
              <a:rPr i="1"/>
              <a:t>Un modello utile deve avere MASE &lt; 1 e CRPS basso a un costo accettabile.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Risultati su Electricity</a:t>
            </a:r>
          </a:p>
        </p:txBody>
      </p:sp>
      <p:sp>
        <p:nvSpPr>
          <p:cNvPr id="4" name="Text Placeholder 3"/>
          <p:cNvSpPr>
            <a:spLocks noGrp="1"/>
          </p:cNvSpPr>
          <p:nvPr>
            <p:ph idx="2" sz="half" type="body"/>
          </p:nvPr>
        </p:nvSpPr>
        <p:spPr/>
        <p:txBody>
          <a:bodyPr/>
          <a:lstStyle/>
          <a:p>
            <a:pPr lvl="0"/>
            <a:r>
              <a:rPr b="1"/>
              <a:t>Barra da battere: CRPS = 160.5 (M0)</a:t>
            </a:r>
            <a:r>
              <a:rPr/>
              <a:t> — nessun deep la supera (DeepAR 253.7; TimeGrad 241.6, il più vicino; TimeDiff 287.3).</a:t>
            </a:r>
          </a:p>
          <a:p>
            <a:pPr lvl="0"/>
            <a:r>
              <a:rPr b="1"/>
              <a:t>M4 — doppio volto:</a:t>
            </a:r>
            <a:r>
              <a:rPr/>
              <a:t> MAE più bassa dei deep al costo minimo (~41 min vs ~4h19 di M3), </a:t>
            </a:r>
            <a:r>
              <a:rPr i="1"/>
              <a:t>ma</a:t>
            </a:r>
            <a:r>
              <a:rPr/>
              <a:t> cov 0.003 / 0.008 → distribuzione degenere (CRPS ≈ MAE; dettaglio in B7).</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Modello</a:t>
                      </a:r>
                    </a:p>
                  </a:txBody>
                  <a:tcPr/>
                </a:tc>
                <a:tc>
                  <a:txBody>
                    <a:bodyPr/>
                    <a:lstStyle/>
                    <a:p>
                      <a:pPr lvl="0" indent="0" marL="0">
                        <a:buNone/>
                      </a:pPr>
                      <a:r>
                        <a:rPr/>
                        <a:t>MASE</a:t>
                      </a:r>
                    </a:p>
                  </a:txBody>
                  <a:tcPr/>
                </a:tc>
                <a:tc>
                  <a:txBody>
                    <a:bodyPr/>
                    <a:lstStyle/>
                    <a:p>
                      <a:pPr lvl="0" indent="0" marL="0">
                        <a:buNone/>
                      </a:pPr>
                      <a:r>
                        <a:rPr/>
                        <a:t>CRPS</a:t>
                      </a:r>
                    </a:p>
                  </a:txBody>
                  <a:tcPr/>
                </a:tc>
                <a:tc>
                  <a:txBody>
                    <a:bodyPr/>
                    <a:lstStyle/>
                    <a:p>
                      <a:pPr lvl="0" indent="0" marL="0">
                        <a:buNone/>
                      </a:pPr>
                      <a:r>
                        <a:rPr/>
                        <a:t>cov50</a:t>
                      </a:r>
                    </a:p>
                  </a:txBody>
                  <a:tcPr/>
                </a:tc>
                <a:tc>
                  <a:txBody>
                    <a:bodyPr/>
                    <a:lstStyle/>
                    <a:p>
                      <a:pPr lvl="0" indent="0" marL="0">
                        <a:buNone/>
                      </a:pPr>
                      <a:r>
                        <a:rPr/>
                        <a:t>cov90</a:t>
                      </a:r>
                    </a:p>
                  </a:txBody>
                  <a:tcPr/>
                </a:tc>
              </a:tr>
              <a:tr h="0">
                <a:tc>
                  <a:txBody>
                    <a:bodyPr/>
                    <a:lstStyle/>
                    <a:p>
                      <a:pPr lvl="0" indent="0" marL="0">
                        <a:buNone/>
                      </a:pPr>
                      <a:r>
                        <a:rPr/>
                        <a:t>M0 seasonal-naive</a:t>
                      </a:r>
                    </a:p>
                  </a:txBody>
                </a:tc>
                <a:tc>
                  <a:txBody>
                    <a:bodyPr/>
                    <a:lstStyle/>
                    <a:p>
                      <a:pPr lvl="0" indent="0" marL="0">
                        <a:buNone/>
                      </a:pPr>
                      <a:r>
                        <a:rPr b="1"/>
                        <a:t>1.00</a:t>
                      </a:r>
                    </a:p>
                  </a:txBody>
                </a:tc>
                <a:tc>
                  <a:txBody>
                    <a:bodyPr/>
                    <a:lstStyle/>
                    <a:p>
                      <a:pPr lvl="0" indent="0" marL="0">
                        <a:buNone/>
                      </a:pPr>
                      <a:r>
                        <a:rPr b="1"/>
                        <a:t>160.5</a:t>
                      </a:r>
                    </a:p>
                  </a:txBody>
                </a:tc>
                <a:tc>
                  <a:txBody>
                    <a:bodyPr/>
                    <a:lstStyle/>
                    <a:p>
                      <a:pPr lvl="0" indent="0" marL="0">
                        <a:buNone/>
                      </a:pPr>
                      <a:r>
                        <a:rPr/>
                        <a:t>0.497</a:t>
                      </a:r>
                    </a:p>
                  </a:txBody>
                </a:tc>
                <a:tc>
                  <a:txBody>
                    <a:bodyPr/>
                    <a:lstStyle/>
                    <a:p>
                      <a:pPr lvl="0" indent="0" marL="0">
                        <a:buNone/>
                      </a:pPr>
                      <a:r>
                        <a:rPr/>
                        <a:t>0.885</a:t>
                      </a:r>
                    </a:p>
                  </a:txBody>
                </a:tc>
              </a:tr>
              <a:tr h="0">
                <a:tc>
                  <a:txBody>
                    <a:bodyPr/>
                    <a:lstStyle/>
                    <a:p>
                      <a:pPr lvl="0" indent="0" marL="0">
                        <a:buNone/>
                      </a:pPr>
                      <a:r>
                        <a:rPr/>
                        <a:t>M1 ARIMA</a:t>
                      </a:r>
                    </a:p>
                  </a:txBody>
                </a:tc>
                <a:tc>
                  <a:txBody>
                    <a:bodyPr/>
                    <a:lstStyle/>
                    <a:p>
                      <a:pPr lvl="0" indent="0" marL="0">
                        <a:buNone/>
                      </a:pPr>
                      <a:r>
                        <a:rPr/>
                        <a:t>3.66</a:t>
                      </a:r>
                    </a:p>
                  </a:txBody>
                </a:tc>
                <a:tc>
                  <a:txBody>
                    <a:bodyPr/>
                    <a:lstStyle/>
                    <a:p>
                      <a:pPr lvl="0" indent="0" marL="0">
                        <a:buNone/>
                      </a:pPr>
                      <a:r>
                        <a:rPr/>
                        <a:t>867.5</a:t>
                      </a:r>
                    </a:p>
                  </a:txBody>
                </a:tc>
                <a:tc>
                  <a:txBody>
                    <a:bodyPr/>
                    <a:lstStyle/>
                    <a:p>
                      <a:pPr lvl="0" indent="0" marL="0">
                        <a:buNone/>
                      </a:pPr>
                      <a:r>
                        <a:rPr/>
                        <a:t>0.592</a:t>
                      </a:r>
                    </a:p>
                  </a:txBody>
                </a:tc>
                <a:tc>
                  <a:txBody>
                    <a:bodyPr/>
                    <a:lstStyle/>
                    <a:p>
                      <a:pPr lvl="0" indent="0" marL="0">
                        <a:buNone/>
                      </a:pPr>
                      <a:r>
                        <a:rPr/>
                        <a:t>0.930</a:t>
                      </a:r>
                    </a:p>
                  </a:txBody>
                </a:tc>
              </a:tr>
              <a:tr h="0">
                <a:tc>
                  <a:txBody>
                    <a:bodyPr/>
                    <a:lstStyle/>
                    <a:p>
                      <a:pPr lvl="0" indent="0" marL="0">
                        <a:buNone/>
                      </a:pPr>
                      <a:r>
                        <a:rPr/>
                        <a:t>M2 DeepAR</a:t>
                      </a:r>
                    </a:p>
                  </a:txBody>
                </a:tc>
                <a:tc>
                  <a:txBody>
                    <a:bodyPr/>
                    <a:lstStyle/>
                    <a:p>
                      <a:pPr lvl="0" indent="0" marL="0">
                        <a:buNone/>
                      </a:pPr>
                      <a:r>
                        <a:rPr/>
                        <a:t>1.83</a:t>
                      </a:r>
                    </a:p>
                  </a:txBody>
                </a:tc>
                <a:tc>
                  <a:txBody>
                    <a:bodyPr/>
                    <a:lstStyle/>
                    <a:p>
                      <a:pPr lvl="0" indent="0" marL="0">
                        <a:buNone/>
                      </a:pPr>
                      <a:r>
                        <a:rPr/>
                        <a:t>253.7</a:t>
                      </a:r>
                    </a:p>
                  </a:txBody>
                </a:tc>
                <a:tc>
                  <a:txBody>
                    <a:bodyPr/>
                    <a:lstStyle/>
                    <a:p>
                      <a:pPr lvl="0" indent="0" marL="0">
                        <a:buNone/>
                      </a:pPr>
                      <a:r>
                        <a:rPr/>
                        <a:t>0.466</a:t>
                      </a:r>
                    </a:p>
                  </a:txBody>
                </a:tc>
                <a:tc>
                  <a:txBody>
                    <a:bodyPr/>
                    <a:lstStyle/>
                    <a:p>
                      <a:pPr lvl="0" indent="0" marL="0">
                        <a:buNone/>
                      </a:pPr>
                      <a:r>
                        <a:rPr/>
                        <a:t>0.831</a:t>
                      </a:r>
                    </a:p>
                  </a:txBody>
                </a:tc>
              </a:tr>
              <a:tr h="0">
                <a:tc>
                  <a:txBody>
                    <a:bodyPr/>
                    <a:lstStyle/>
                    <a:p>
                      <a:pPr lvl="0" indent="0" marL="0">
                        <a:buNone/>
                      </a:pPr>
                      <a:r>
                        <a:rPr/>
                        <a:t>M3 TimeGrad</a:t>
                      </a:r>
                    </a:p>
                  </a:txBody>
                </a:tc>
                <a:tc>
                  <a:txBody>
                    <a:bodyPr/>
                    <a:lstStyle/>
                    <a:p>
                      <a:pPr lvl="0" indent="0" marL="0">
                        <a:buNone/>
                      </a:pPr>
                      <a:r>
                        <a:rPr/>
                        <a:t>1.39</a:t>
                      </a:r>
                    </a:p>
                  </a:txBody>
                </a:tc>
                <a:tc>
                  <a:txBody>
                    <a:bodyPr/>
                    <a:lstStyle/>
                    <a:p>
                      <a:pPr lvl="0" indent="0" marL="0">
                        <a:buNone/>
                      </a:pPr>
                      <a:r>
                        <a:rPr/>
                        <a:t>241.6</a:t>
                      </a:r>
                    </a:p>
                  </a:txBody>
                </a:tc>
                <a:tc>
                  <a:txBody>
                    <a:bodyPr/>
                    <a:lstStyle/>
                    <a:p>
                      <a:pPr lvl="0" indent="0" marL="0">
                        <a:buNone/>
                      </a:pPr>
                      <a:r>
                        <a:rPr/>
                        <a:t>0.279</a:t>
                      </a:r>
                    </a:p>
                  </a:txBody>
                </a:tc>
                <a:tc>
                  <a:txBody>
                    <a:bodyPr/>
                    <a:lstStyle/>
                    <a:p>
                      <a:pPr lvl="0" indent="0" marL="0">
                        <a:buNone/>
                      </a:pPr>
                      <a:r>
                        <a:rPr/>
                        <a:t>0.647</a:t>
                      </a:r>
                    </a:p>
                  </a:txBody>
                </a:tc>
              </a:tr>
              <a:tr h="0">
                <a:tc>
                  <a:txBody>
                    <a:bodyPr/>
                    <a:lstStyle/>
                    <a:p>
                      <a:pPr lvl="0" indent="0" marL="0">
                        <a:buNone/>
                      </a:pPr>
                      <a:r>
                        <a:rPr/>
                        <a:t>M4 TimeDiff</a:t>
                      </a:r>
                    </a:p>
                  </a:txBody>
                </a:tc>
                <a:tc>
                  <a:txBody>
                    <a:bodyPr/>
                    <a:lstStyle/>
                    <a:p>
                      <a:pPr lvl="0" indent="0" marL="0">
                        <a:buNone/>
                      </a:pPr>
                      <a:r>
                        <a:rPr/>
                        <a:t>1.40</a:t>
                      </a:r>
                    </a:p>
                  </a:txBody>
                </a:tc>
                <a:tc>
                  <a:txBody>
                    <a:bodyPr/>
                    <a:lstStyle/>
                    <a:p>
                      <a:pPr lvl="0" indent="0" marL="0">
                        <a:buNone/>
                      </a:pPr>
                      <a:r>
                        <a:rPr/>
                        <a:t>287.3</a:t>
                      </a:r>
                    </a:p>
                  </a:txBody>
                </a:tc>
                <a:tc>
                  <a:txBody>
                    <a:bodyPr/>
                    <a:lstStyle/>
                    <a:p>
                      <a:pPr lvl="0" indent="0" marL="0">
                        <a:buNone/>
                      </a:pPr>
                      <a:r>
                        <a:rPr b="1"/>
                        <a:t>0.003</a:t>
                      </a:r>
                    </a:p>
                  </a:txBody>
                </a:tc>
                <a:tc>
                  <a:txBody>
                    <a:bodyPr/>
                    <a:lstStyle/>
                    <a:p>
                      <a:pPr lvl="0" indent="0" marL="0">
                        <a:buNone/>
                      </a:pPr>
                      <a:r>
                        <a:rPr b="1"/>
                        <a:t>0.008</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Risultati — CRPS a confronto</a:t>
            </a:r>
          </a:p>
        </p:txBody>
      </p:sp>
      <p:sp>
        <p:nvSpPr>
          <p:cNvPr id="4" name="Text Placeholder 3"/>
          <p:cNvSpPr>
            <a:spLocks noGrp="1"/>
          </p:cNvSpPr>
          <p:nvPr>
            <p:ph idx="2" sz="half" type="body"/>
          </p:nvPr>
        </p:nvSpPr>
        <p:spPr/>
        <p:txBody>
          <a:bodyPr/>
          <a:lstStyle/>
          <a:p>
            <a:pPr lvl="0"/>
            <a:r>
              <a:rPr/>
              <a:t>Barre = CRPS per modello (↓ meglio). La soglia di </a:t>
            </a:r>
            <a:r>
              <a:rPr b="1"/>
              <a:t>M0 = 160.5</a:t>
            </a:r>
            <a:r>
              <a:rPr/>
              <a:t> è la riga che nessun deep supera: TimeGrad le si avvicina, TimeDiff (incertezza collassata) è il più alto.</a:t>
            </a:r>
          </a:p>
        </p:txBody>
      </p:sp>
      <p:pic>
        <p:nvPicPr>
          <p:cNvPr descr="figures/presentation/fig_cmp_crps.png" id="0" name="Picture 1"/>
          <p:cNvPicPr>
            <a:picLocks noGrp="1" noChangeAspect="1"/>
          </p:cNvPicPr>
          <p:nvPr/>
        </p:nvPicPr>
        <p:blipFill>
          <a:blip r:embed="rId3"/>
          <a:stretch>
            <a:fillRect/>
          </a:stretch>
        </p:blipFill>
        <p:spPr bwMode="auto">
          <a:xfrm>
            <a:off x="3568700" y="876300"/>
            <a:ext cx="5105400" cy="30353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Qualità vs costo — il vero trade-off</a:t>
            </a:r>
          </a:p>
        </p:txBody>
      </p:sp>
      <p:sp>
        <p:nvSpPr>
          <p:cNvPr id="4" name="Text Placeholder 3"/>
          <p:cNvSpPr>
            <a:spLocks noGrp="1"/>
          </p:cNvSpPr>
          <p:nvPr>
            <p:ph idx="2" sz="half" type="body"/>
          </p:nvPr>
        </p:nvSpPr>
        <p:spPr/>
        <p:txBody>
          <a:bodyPr/>
          <a:lstStyle/>
          <a:p>
            <a:pPr lvl="0"/>
            <a:r>
              <a:rPr/>
              <a:t>Scatter </a:t>
            </a:r>
            <a:r>
              <a:rPr b="1"/>
              <a:t>CRPS (qualità, ↓) vs predict_s (costo, ↓)</a:t>
            </a:r>
            <a:r>
              <a:rPr/>
              <a:t>; angolo basso-sinistra = ideale.</a:t>
            </a:r>
          </a:p>
          <a:p>
            <a:pPr lvl="0"/>
            <a:r>
              <a:rPr b="1"/>
              <a:t>M0</a:t>
            </a:r>
            <a:r>
              <a:rPr/>
              <a:t> è economico </a:t>
            </a:r>
            <a:r>
              <a:rPr i="1"/>
              <a:t>e</a:t>
            </a:r>
            <a:r>
              <a:rPr/>
              <a:t> buono (sorpresa). </a:t>
            </a:r>
            <a:r>
              <a:rPr b="1"/>
              <a:t>M2</a:t>
            </a:r>
            <a:r>
              <a:rPr/>
              <a:t> paga di più per una qualità peggiore di M0.</a:t>
            </a:r>
          </a:p>
          <a:p>
            <a:pPr lvl="0"/>
            <a:r>
              <a:rPr b="1"/>
              <a:t>M3</a:t>
            </a:r>
            <a:r>
              <a:rPr/>
              <a:t> è il più </a:t>
            </a:r>
            <a:r>
              <a:rPr b="1"/>
              <a:t>costoso</a:t>
            </a:r>
            <a:r>
              <a:rPr/>
              <a:t> (~4h19) e arriva solo a 241.6: il costo non è ripagato.</a:t>
            </a:r>
          </a:p>
          <a:p>
            <a:pPr lvl="0"/>
            <a:r>
              <a:rPr b="1"/>
              <a:t>M4</a:t>
            </a:r>
            <a:r>
              <a:rPr/>
              <a:t> è il punto più a </a:t>
            </a:r>
            <a:r>
              <a:rPr b="1"/>
              <a:t>sinistra</a:t>
            </a:r>
            <a:r>
              <a:rPr/>
              <a:t> (il più economico dei deep) ma CRPS 287, il più alto: il non-AR </a:t>
            </a:r>
            <a:r>
              <a:rPr b="1"/>
              <a:t>compra velocità, non calibrazione</a:t>
            </a:r>
            <a:r>
              <a:rPr/>
              <a:t>.</a:t>
            </a:r>
          </a:p>
          <a:p>
            <a:pPr lvl="0"/>
            <a:r>
              <a:rPr i="1"/>
              <a:t>Non basta vincere sul CRPS: bisogna vincere abbastanza da giustificare il costo — e la velocità non vale se l’incertezza è rotta.</a:t>
            </a:r>
          </a:p>
        </p:txBody>
      </p:sp>
      <p:pic>
        <p:nvPicPr>
          <p:cNvPr descr="figures/presentation/fig_cmp_quality_cost.png" id="0" name="Picture 1"/>
          <p:cNvPicPr>
            <a:picLocks noGrp="1" noChangeAspect="1"/>
          </p:cNvPicPr>
          <p:nvPr/>
        </p:nvPicPr>
        <p:blipFill>
          <a:blip r:embed="rId3"/>
          <a:stretch>
            <a:fillRect/>
          </a:stretch>
        </p:blipFill>
        <p:spPr bwMode="auto">
          <a:xfrm>
            <a:off x="3568700" y="685800"/>
            <a:ext cx="5105400" cy="34036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Conclusioni e limiti</a:t>
            </a:r>
          </a:p>
        </p:txBody>
      </p:sp>
      <p:sp>
        <p:nvSpPr>
          <p:cNvPr id="3" name="Content Placeholder 2"/>
          <p:cNvSpPr>
            <a:spLocks noGrp="1"/>
          </p:cNvSpPr>
          <p:nvPr>
            <p:ph idx="1"/>
          </p:nvPr>
        </p:nvSpPr>
        <p:spPr/>
        <p:txBody>
          <a:bodyPr/>
          <a:lstStyle/>
          <a:p>
            <a:pPr lvl="0"/>
            <a:r>
              <a:rPr b="1"/>
              <a:t>Take-home:</a:t>
            </a:r>
            <a:r>
              <a:rPr/>
              <a:t> non “diffusion vince”, ma il </a:t>
            </a:r>
            <a:r>
              <a:rPr b="1"/>
              <a:t>trade-off espressività ↔ calibrazione ↔ costo</a:t>
            </a:r>
            <a:r>
              <a:rPr/>
              <a:t>. Su un segnale molto stagionale un baseline semplice è una soglia seria.</a:t>
            </a:r>
          </a:p>
          <a:p>
            <a:pPr lvl="0"/>
            <a:r>
              <a:rPr b="1"/>
              <a:t>M3:</a:t>
            </a:r>
            <a:r>
              <a:rPr/>
              <a:t> migliora DeepAR (253.7 → 241.6) ma non il seasonal-naive (160.5). Valore </a:t>
            </a:r>
            <a:r>
              <a:rPr b="1"/>
              <a:t>metodologico</a:t>
            </a:r>
            <a:r>
              <a:rPr/>
              <a:t>, non una vittoria.</a:t>
            </a:r>
          </a:p>
          <a:p>
            <a:pPr lvl="0"/>
            <a:r>
              <a:rPr b="1"/>
              <a:t>M4 — il design conta:</a:t>
            </a:r>
            <a:r>
              <a:rPr/>
              <a:t> ~6× più rapido di M3, MAE più bassa tra i deep, ma in x0-prediction la distribuzione </a:t>
            </a:r>
            <a:r>
              <a:rPr b="1"/>
              <a:t>collassa</a:t>
            </a:r>
            <a:r>
              <a:rPr/>
              <a:t> (cov ≈ 0). L’ablazione </a:t>
            </a:r>
            <a:r>
              <a:rPr b="1"/>
              <a:t>ε (M4ε)</a:t>
            </a:r>
            <a:r>
              <a:rPr/>
              <a:t> lo conferma </a:t>
            </a:r>
            <a:r>
              <a:rPr i="1"/>
              <a:t>per assurdo</a:t>
            </a:r>
            <a:r>
              <a:rPr/>
              <a:t>: predire il rumore </a:t>
            </a:r>
            <a:r>
              <a:rPr b="1"/>
              <a:t>non</a:t>
            </a:r>
            <a:r>
              <a:rPr/>
              <a:t> ricalibra, </a:t>
            </a:r>
            <a:r>
              <a:rPr b="1"/>
              <a:t>ribalta</a:t>
            </a:r>
            <a:r>
              <a:rPr/>
              <a:t> nell’estremo opposto (cov ≈ 1, bande enormi, MASE 4.0). → </a:t>
            </a:r>
            <a:r>
              <a:rPr i="1"/>
              <a:t>x0 ed ε sono i due estremi; la calibrazione vera non è uno switch di parametrizzazione.</a:t>
            </a:r>
          </a:p>
          <a:p>
            <a:pPr lvl="0"/>
            <a:r>
              <a:rPr b="1"/>
              <a:t>Limiti:</a:t>
            </a:r>
            <a:r>
              <a:rPr/>
              <a:t> split non-benchmark (E0); ARIMA per-canale; sampling costoso (M3); un solo seed; no tuning esteso.</a:t>
            </a:r>
          </a:p>
          <a:p>
            <a:pPr lvl="0"/>
            <a:r>
              <a:rPr b="1"/>
              <a:t>Lavori futuri:</a:t>
            </a:r>
            <a:r>
              <a:rPr/>
              <a:t> calibrare oltre x0/ε (σ_θ appresa, conformal); split </a:t>
            </a:r>
            <a:r>
              <a:rPr>
                <a:latin typeface="Courier"/>
              </a:rPr>
              <a:t>electricity_nips</a:t>
            </a:r>
            <a:r>
              <a:rPr/>
              <a:t>; CSDI; DDIM; più seed.</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Backup B1a — Copertura empirica (calibrazione)</a:t>
            </a:r>
          </a:p>
        </p:txBody>
      </p:sp>
      <p:sp>
        <p:nvSpPr>
          <p:cNvPr id="4" name="Text Placeholder 3"/>
          <p:cNvSpPr>
            <a:spLocks noGrp="1"/>
          </p:cNvSpPr>
          <p:nvPr>
            <p:ph idx="2" sz="half" type="body"/>
          </p:nvPr>
        </p:nvSpPr>
        <p:spPr/>
        <p:txBody>
          <a:bodyPr/>
          <a:lstStyle/>
          <a:p>
            <a:pPr lvl="0"/>
            <a:r>
              <a:rPr/>
              <a:t>Copertura osservata vs nominale: </a:t>
            </a:r>
            <a:r>
              <a:rPr b="1"/>
              <a:t>cov50 → 0.50</a:t>
            </a:r>
            <a:r>
              <a:rPr/>
              <a:t>, </a:t>
            </a:r>
            <a:r>
              <a:rPr b="1"/>
              <a:t>cov90 → 0.90</a:t>
            </a:r>
            <a:r>
              <a:rPr/>
              <a:t>. Sotto la diagonale = troppo sicuro; sopra = troppo incerto.</a:t>
            </a:r>
          </a:p>
          <a:p>
            <a:pPr lvl="0"/>
            <a:r>
              <a:rPr b="1"/>
              <a:t>M4 (x0)</a:t>
            </a:r>
            <a:r>
              <a:rPr/>
              <a:t> schiacciato sul pavimento (cov ≈ 0); </a:t>
            </a:r>
            <a:r>
              <a:rPr b="1"/>
              <a:t>M4ε</a:t>
            </a:r>
            <a:r>
              <a:rPr/>
              <a:t> sul soffitto (cov ≈ 1); </a:t>
            </a:r>
            <a:r>
              <a:rPr b="1"/>
              <a:t>DeepAR</a:t>
            </a:r>
            <a:r>
              <a:rPr/>
              <a:t> il più vicino alla diagonale.</a:t>
            </a:r>
          </a:p>
          <a:p>
            <a:pPr lvl="0"/>
            <a:r>
              <a:rPr i="1"/>
              <a:t>Uso:</a:t>
            </a:r>
            <a:r>
              <a:rPr/>
              <a:t> “come fai a dire che un modello è ben calibrato?”</a:t>
            </a:r>
          </a:p>
        </p:txBody>
      </p:sp>
      <p:pic>
        <p:nvPicPr>
          <p:cNvPr descr="figures/presentation/fig_cmp_calibration.png" id="0" name="Picture 1"/>
          <p:cNvPicPr>
            <a:picLocks noGrp="1" noChangeAspect="1"/>
          </p:cNvPicPr>
          <p:nvPr/>
        </p:nvPicPr>
        <p:blipFill>
          <a:blip r:embed="rId3"/>
          <a:stretch>
            <a:fillRect/>
          </a:stretch>
        </p:blipFill>
        <p:spPr bwMode="auto">
          <a:xfrm>
            <a:off x="3860800" y="203200"/>
            <a:ext cx="4533900" cy="43815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Backup B1b — Sharpness (ampiezza delle bande)</a:t>
            </a:r>
          </a:p>
        </p:txBody>
      </p:sp>
      <p:sp>
        <p:nvSpPr>
          <p:cNvPr id="4" name="Text Placeholder 3"/>
          <p:cNvSpPr>
            <a:spLocks noGrp="1"/>
          </p:cNvSpPr>
          <p:nvPr>
            <p:ph idx="2" sz="half" type="body"/>
          </p:nvPr>
        </p:nvSpPr>
        <p:spPr/>
        <p:txBody>
          <a:bodyPr/>
          <a:lstStyle/>
          <a:p>
            <a:pPr lvl="0"/>
            <a:r>
              <a:rPr b="1"/>
              <a:t>width50/width90</a:t>
            </a:r>
            <a:r>
              <a:rPr/>
              <a:t> = quanto sono larghe le bande. Va letta </a:t>
            </a:r>
            <a:r>
              <a:rPr i="1"/>
              <a:t>insieme</a:t>
            </a:r>
            <a:r>
              <a:rPr/>
              <a:t> alla copertura: stretta + scopertura = falsa sicurezza; larga + copertura = incertezza onesta.</a:t>
            </a:r>
          </a:p>
          <a:p>
            <a:pPr lvl="0"/>
            <a:r>
              <a:rPr b="1"/>
              <a:t>M4 (x0)</a:t>
            </a:r>
            <a:r>
              <a:rPr/>
              <a:t> bande ≈ 0 (false-sicuro); </a:t>
            </a:r>
            <a:r>
              <a:rPr b="1"/>
              <a:t>M4ε</a:t>
            </a:r>
            <a:r>
              <a:rPr/>
              <a:t> bande enormi (~7 700 / 11 400, le più larghe della scala).</a:t>
            </a:r>
          </a:p>
          <a:p>
            <a:pPr lvl="0"/>
            <a:r>
              <a:rPr i="1"/>
              <a:t>Uso:</a:t>
            </a:r>
            <a:r>
              <a:rPr/>
              <a:t> “una banda stretta è sempre meglio?” → no, conta solo accanto alla copertura.</a:t>
            </a:r>
          </a:p>
        </p:txBody>
      </p:sp>
      <p:pic>
        <p:nvPicPr>
          <p:cNvPr descr="figures/presentation/fig_cmp_intervals.png" id="0" name="Picture 1"/>
          <p:cNvPicPr>
            <a:picLocks noGrp="1" noChangeAspect="1"/>
          </p:cNvPicPr>
          <p:nvPr/>
        </p:nvPicPr>
        <p:blipFill>
          <a:blip r:embed="rId3"/>
          <a:stretch>
            <a:fillRect/>
          </a:stretch>
        </p:blipFill>
        <p:spPr bwMode="auto">
          <a:xfrm>
            <a:off x="3568700" y="1320800"/>
            <a:ext cx="5105400" cy="21336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Backup B7 — I due volti della parametrizzazione (x0 vs ε) ⭐</a:t>
            </a:r>
          </a:p>
        </p:txBody>
      </p:sp>
      <p:sp>
        <p:nvSpPr>
          <p:cNvPr id="4" name="Text Placeholder 3"/>
          <p:cNvSpPr>
            <a:spLocks noGrp="1"/>
          </p:cNvSpPr>
          <p:nvPr>
            <p:ph idx="2" sz="half" type="body"/>
          </p:nvPr>
        </p:nvSpPr>
        <p:spPr/>
        <p:txBody>
          <a:bodyPr/>
          <a:lstStyle/>
          <a:p>
            <a:pPr lvl="0"/>
            <a:r>
              <a:rPr b="1"/>
              <a:t>Non-AR:</a:t>
            </a:r>
            <a:r>
              <a:rPr/>
              <a:t> denoisa l’intero blocco τ×D in una catena → da qui la velocità.</a:t>
            </a:r>
          </a:p>
          <a:p>
            <a:pPr lvl="0"/>
            <a:r>
              <a:rPr b="1"/>
              <a:t>x0 collassa:</a:t>
            </a:r>
            <a:r>
              <a:rPr/>
              <a:t> cov 0.003/0.008, width ≈ 0, </a:t>
            </a:r>
            <a:r>
              <a:rPr b="1"/>
              <a:t>CRPS ≈ MAE</a:t>
            </a:r>
            <a:r>
              <a:rPr/>
              <a:t> = massa puntiforme. </a:t>
            </a:r>
            <a:r>
              <a:rPr i="1"/>
              <a:t>Perché:</a:t>
            </a:r>
            <a:r>
              <a:rPr/>
              <a:t> la rete predice un x0 quasi costante (contesto + </a:t>
            </a:r>
            <a:r>
              <a:rPr>
                <a:latin typeface="Courier"/>
              </a:rPr>
              <a:t>x_ar</a:t>
            </a:r>
            <a:r>
              <a:rPr/>
              <a:t>), ignora il rumore </a:t>
            </a:r>
            <a:r>
              <a:rPr>
                <a:latin typeface="Courier"/>
              </a:rPr>
              <a:t>x_t</a:t>
            </a:r>
            <a:r>
              <a:rPr/>
              <a:t>; varianza residua </a:t>
            </a:r>
            <a:r>
              <a:rPr>
                <a:latin typeface="Courier"/>
              </a:rPr>
              <a:t>1−ᾱ_0 ≈ 6·10⁻⁴</a:t>
            </a:r>
            <a:r>
              <a:rPr/>
              <a:t> → std ≈ 0 (future-mixup aggrava).</a:t>
            </a:r>
          </a:p>
          <a:p>
            <a:pPr lvl="0"/>
            <a:r>
              <a:rPr b="1"/>
              <a:t>La presunta cura, ε, ribalta:</a:t>
            </a:r>
            <a:r>
              <a:rPr/>
              <a:t> M4ε </a:t>
            </a:r>
            <a:r>
              <a:rPr b="1"/>
              <a:t>sovra-disperde</a:t>
            </a:r>
            <a:r>
              <a:rPr/>
              <a:t> — cov50 </a:t>
            </a:r>
            <a:r>
              <a:rPr b="1"/>
              <a:t>0.998</a:t>
            </a:r>
            <a:r>
              <a:rPr/>
              <a:t>, cov90 </a:t>
            </a:r>
            <a:r>
              <a:rPr b="1"/>
              <a:t>1.000</a:t>
            </a:r>
            <a:r>
              <a:rPr/>
              <a:t>, width50 </a:t>
            </a:r>
            <a:r>
              <a:rPr b="1"/>
              <a:t>7 686</a:t>
            </a:r>
            <a:r>
              <a:rPr/>
              <a:t>, width90 </a:t>
            </a:r>
            <a:r>
              <a:rPr b="1"/>
              <a:t>11 359</a:t>
            </a:r>
            <a:r>
              <a:rPr/>
              <a:t> (le più larghe della scala), MASE </a:t>
            </a:r>
            <a:r>
              <a:rPr b="1"/>
              <a:t>4.02</a:t>
            </a:r>
            <a:r>
              <a:rPr/>
              <a:t>.</a:t>
            </a:r>
          </a:p>
          <a:p>
            <a:pPr lvl="0"/>
            <a:r>
              <a:rPr b="1"/>
              <a:t>Lezione:</a:t>
            </a:r>
            <a:r>
              <a:rPr/>
              <a:t> x0 ed ε = due estremi (sotto/sovra-confidente); x0 è il </a:t>
            </a:r>
            <a:r>
              <a:rPr i="1"/>
              <a:t>male minore</a:t>
            </a:r>
            <a:r>
              <a:rPr/>
              <a:t> (scelta del paper TimeDiff); la calibrazione vera richiede di più (σ_θ appresa, o conformal).</a:t>
            </a:r>
          </a:p>
          <a:p>
            <a:pPr lvl="0"/>
            <a:r>
              <a:rPr b="1"/>
              <a:t>Bonus:</a:t>
            </a:r>
            <a:r>
              <a:rPr/>
              <a:t> il meglio calibrato della scala è </a:t>
            </a:r>
            <a:r>
              <a:rPr b="1"/>
              <a:t>DeepAR</a:t>
            </a:r>
            <a:r>
              <a:rPr/>
              <a:t>, non una diffusione.</a:t>
            </a:r>
          </a:p>
        </p:txBody>
      </p:sp>
      <p:pic>
        <p:nvPicPr>
          <p:cNvPr descr="figures/presentation/fig_cmp_calibration.png" id="0" name="Picture 1"/>
          <p:cNvPicPr>
            <a:picLocks noGrp="1" noChangeAspect="1"/>
          </p:cNvPicPr>
          <p:nvPr/>
        </p:nvPicPr>
        <p:blipFill>
          <a:blip r:embed="rId3"/>
          <a:stretch>
            <a:fillRect/>
          </a:stretch>
        </p:blipFill>
        <p:spPr bwMode="auto">
          <a:xfrm>
            <a:off x="3860800" y="203200"/>
            <a:ext cx="4533900" cy="43815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Altre slide di backup (testo, per il Q&amp;A)</a:t>
            </a:r>
          </a:p>
        </p:txBody>
      </p:sp>
      <p:sp>
        <p:nvSpPr>
          <p:cNvPr id="3" name="Content Placeholder 2"/>
          <p:cNvSpPr>
            <a:spLocks noGrp="1"/>
          </p:cNvSpPr>
          <p:nvPr>
            <p:ph idx="1"/>
          </p:nvPr>
        </p:nvSpPr>
        <p:spPr/>
        <p:txBody>
          <a:bodyPr/>
          <a:lstStyle/>
          <a:p>
            <a:pPr lvl="0"/>
            <a:r>
              <a:rPr b="1"/>
              <a:t>B2 — Tabella completa:</a:t>
            </a:r>
            <a:r>
              <a:rPr/>
              <a:t> </a:t>
            </a:r>
            <a:r>
              <a:rPr>
                <a:latin typeface="Courier"/>
              </a:rPr>
              <a:t>results/tables/comparison_electricity.md</a:t>
            </a:r>
            <a:r>
              <a:rPr/>
              <a:t> (tutte le colonne, vincitore per colonna in grassetto).</a:t>
            </a:r>
          </a:p>
          <a:p>
            <a:pPr lvl="0"/>
            <a:r>
              <a:rPr b="1"/>
              <a:t>B3 — Perché ARIMA va male:</a:t>
            </a:r>
            <a:r>
              <a:rPr/>
              <a:t> auto-ARIMA per-canale su 321 serie, ordini eterogenei, fragilità, costo.</a:t>
            </a:r>
          </a:p>
          <a:p>
            <a:pPr lvl="0"/>
            <a:r>
              <a:rPr b="1"/>
              <a:t>B4 — Math della diffusione:</a:t>
            </a:r>
            <a:r>
              <a:rPr/>
              <a:t> </a:t>
            </a:r>
            <a:r>
              <a:rPr>
                <a:latin typeface="Courier"/>
              </a:rPr>
              <a:t>q(x_t|x_0)</a:t>
            </a:r>
            <a:r>
              <a:rPr/>
              <a:t>, predizione del rumore ε, loss semplificata; toy DDPM 1-D.</a:t>
            </a:r>
          </a:p>
          <a:p>
            <a:pPr lvl="0"/>
            <a:r>
              <a:rPr b="1"/>
              <a:t>B5 — Exchange, risultati:</a:t>
            </a:r>
            <a:r>
              <a:rPr/>
              <a:t> </a:t>
            </a:r>
            <a:r>
              <a:rPr>
                <a:latin typeface="Courier"/>
              </a:rPr>
              <a:t>results/tables/comparison_exchange.md</a:t>
            </a:r>
            <a:r>
              <a:rPr/>
              <a:t> (controllo negativo: deep &lt; naive).</a:t>
            </a:r>
          </a:p>
          <a:p>
            <a:pPr lvl="0"/>
            <a:r>
              <a:rPr b="1"/>
              <a:t>B6 — DeepAR senza time-features:</a:t>
            </a:r>
            <a:r>
              <a:rPr/>
              <a:t> effetto delle covariate calendario (se la riga </a:t>
            </a:r>
            <a:r>
              <a:rPr>
                <a:latin typeface="Courier"/>
              </a:rPr>
              <a:t>deepar_notf</a:t>
            </a:r>
            <a:r>
              <a:rPr/>
              <a:t> è in registry).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probabilistico con modelli di diffusione</dc:title>
  <dc:creator>Relatore A · Relatore B · Relatore C — PML, Prof. Bortolussi, UniTS</dc:creator>
  <cp:keywords/>
  <dcterms:created xsi:type="dcterms:W3CDTF">2026-06-03T01:41:17Z</dcterms:created>
  <dcterms:modified xsi:type="dcterms:W3CDTF">2026-06-03T01:41:17Z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Giugno 2026</vt:lpwstr>
  </property>
  <property fmtid="{D5CDD505-2E9C-101B-9397-08002B2CF9AE}" pid="3" name="subtitle">
    <vt:lpwstr>Un confronto controllato su consumi elettrici · M0 → M4</vt:lpwstr>
  </property>
</Properties>
</file>